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Proxima Nova"/>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roximaNova-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ProximaNova-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ProximaNova-italic.fntdata"/><Relationship Id="rId6" Type="http://schemas.openxmlformats.org/officeDocument/2006/relationships/slide" Target="slides/slide1.xml"/><Relationship Id="rId18" Type="http://schemas.openxmlformats.org/officeDocument/2006/relationships/font" Target="fonts/ProximaNova-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761e23fd4817d80b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761e23fd4817d80b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USRE project builds upon the work of the CLEAR lab, which is a team of Loyola undergraduate and graduate students in collaboration with faculty from the School of Environmental Sustainability and the Department of Mathematics and Statistics from a wide variety of fields including data science, enviornmental science, political science, and communications.. The CLEAR lab works to install air quality sensors throughout Chicago and collect and analyze spatial and temporal data from the sensors to support research initiatives and public education.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ee8ac7b00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ee8ac7b00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research of the CLEAR lab primarily focuses on particulate matter, which are solid and liquid particles suspended in the air. Particulate matter can originate from many sources, including fossil fuel combustion, industrial processes, </a:t>
            </a:r>
            <a:r>
              <a:rPr lang="en"/>
              <a:t>vehicle</a:t>
            </a:r>
            <a:r>
              <a:rPr lang="en"/>
              <a:t> exhaust, and wildfire smoke. Of particular concern is PM2.5, particulate matter less than 2.5 micrometers in diameter, because small particle size allows air pollution to enter the bloodstream, lungs, and heart, yielding a higher health risk and exacerbating athsma, bronchitis, and cardiovascular disease.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ee8ac7b00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ee8ac7b00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CLEAR lab uses sensor data from PurpleAir, a company which manufactures and sells small, affordable air quality sensors to </a:t>
            </a:r>
            <a:r>
              <a:rPr lang="en"/>
              <a:t>communities. PurpleAir sensors are smaller, more portable, lower-cost than federal EPA sensors and provide a more granular, hyperlocal picture of air quality for communities worldwide. There are currently 92 PurpleAir sensors installed in the city of Chicago and an additional 17 sensors in the Chicago suburbs.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These sensors, which can be installed both indoors and outdoors, measure PM2.5, humidity, temperature, and atmospheric pressure once every 2 minutes and upload the readings to a cloud-based server. Researchers can access the data through the company’s application programming interface (API), which allows users to connect the PurpleAir server to their own databases and software programs.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ee8ff998fb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ee8ff998f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These sensors, which can be installed both indoors and outdoors, measure PM2.5, humidity, temperature, and atmospheric pressure once every 2 minutes and upload the readings to a cloud-based server. Researchers can access the data through the company’s application programming interface (API), which allows users to connect the PurpleAir server to their own databases and software programs.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eea259f20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eea259f20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761e23fd4817d80b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761e23fd4817d80b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rPr lang="en" sz="1300">
                <a:solidFill>
                  <a:schemeClr val="dk1"/>
                </a:solidFill>
              </a:rPr>
              <a:t>The CLEAR lab uses a SQL database, the structure of which is outlined by this entity-relationship diagram. </a:t>
            </a:r>
            <a:endParaRPr sz="1300">
              <a:solidFill>
                <a:schemeClr val="dk1"/>
              </a:solidFill>
            </a:endParaRPr>
          </a:p>
          <a:p>
            <a:pPr indent="0" lvl="0" marL="457200" rtl="0" algn="l">
              <a:spcBef>
                <a:spcPts val="0"/>
              </a:spcBef>
              <a:spcAft>
                <a:spcPts val="0"/>
              </a:spcAft>
              <a:buNone/>
            </a:pPr>
            <a:r>
              <a:rPr lang="en" sz="1300">
                <a:solidFill>
                  <a:schemeClr val="dk1"/>
                </a:solidFill>
              </a:rPr>
              <a:t>The database consists of 4 tables: </a:t>
            </a:r>
            <a:endParaRPr sz="1300">
              <a:solidFill>
                <a:schemeClr val="dk1"/>
              </a:solidFill>
            </a:endParaRPr>
          </a:p>
          <a:p>
            <a:pPr indent="0" lvl="0" marL="457200" rtl="0" algn="l">
              <a:spcBef>
                <a:spcPts val="0"/>
              </a:spcBef>
              <a:spcAft>
                <a:spcPts val="0"/>
              </a:spcAft>
              <a:buClr>
                <a:schemeClr val="dk1"/>
              </a:buClr>
              <a:buSzPts val="1100"/>
              <a:buFont typeface="Arial"/>
              <a:buNone/>
            </a:pPr>
            <a:r>
              <a:t/>
            </a:r>
            <a:endParaRPr sz="1300">
              <a:solidFill>
                <a:schemeClr val="dk1"/>
              </a:solidFill>
            </a:endParaRPr>
          </a:p>
          <a:p>
            <a:pPr indent="0" lvl="0" marL="457200" rtl="0" algn="l">
              <a:spcBef>
                <a:spcPts val="0"/>
              </a:spcBef>
              <a:spcAft>
                <a:spcPts val="0"/>
              </a:spcAft>
              <a:buNone/>
            </a:pPr>
            <a:r>
              <a:rPr lang="en" sz="1300">
                <a:solidFill>
                  <a:schemeClr val="dk1"/>
                </a:solidFill>
              </a:rPr>
              <a:t>air_history, which contains the 2-minute temperature, humidity, pressure, and PM2.5 sensor readings as well as the time stamp of each reading and a unique index number specifying the sensor generating the reading</a:t>
            </a:r>
            <a:endParaRPr sz="1300">
              <a:solidFill>
                <a:schemeClr val="dk1"/>
              </a:solidFill>
            </a:endParaRPr>
          </a:p>
          <a:p>
            <a:pPr indent="0" lvl="0" marL="457200" rtl="0" algn="l">
              <a:spcBef>
                <a:spcPts val="0"/>
              </a:spcBef>
              <a:spcAft>
                <a:spcPts val="0"/>
              </a:spcAft>
              <a:buNone/>
            </a:pPr>
            <a:r>
              <a:t/>
            </a:r>
            <a:endParaRPr sz="1300">
              <a:solidFill>
                <a:schemeClr val="dk1"/>
              </a:solidFill>
            </a:endParaRPr>
          </a:p>
          <a:p>
            <a:pPr indent="0" lvl="0" marL="457200" rtl="0" algn="l">
              <a:spcBef>
                <a:spcPts val="0"/>
              </a:spcBef>
              <a:spcAft>
                <a:spcPts val="0"/>
              </a:spcAft>
              <a:buNone/>
            </a:pPr>
            <a:r>
              <a:rPr lang="en" sz="1300">
                <a:solidFill>
                  <a:schemeClr val="dk1"/>
                </a:solidFill>
              </a:rPr>
              <a:t>sensor_information, which contains metadata such as when the sensors were previously online, installation date, latitude and longitude, indoor or outdoor, unique model and hardware numbers, and a newly created column which labels a sensor as “Active” if it was last online on or after June 1, 2026 and “Inactive” otherwise</a:t>
            </a:r>
            <a:endParaRPr sz="1300">
              <a:solidFill>
                <a:schemeClr val="dk1"/>
              </a:solidFill>
            </a:endParaRPr>
          </a:p>
          <a:p>
            <a:pPr indent="0" lvl="0" marL="457200" rtl="0" algn="l">
              <a:spcBef>
                <a:spcPts val="0"/>
              </a:spcBef>
              <a:spcAft>
                <a:spcPts val="0"/>
              </a:spcAft>
              <a:buClr>
                <a:schemeClr val="dk1"/>
              </a:buClr>
              <a:buSzPts val="1100"/>
              <a:buFont typeface="Arial"/>
              <a:buNone/>
            </a:pPr>
            <a:r>
              <a:t/>
            </a:r>
            <a:endParaRPr sz="1300">
              <a:solidFill>
                <a:schemeClr val="dk1"/>
              </a:solidFill>
            </a:endParaRPr>
          </a:p>
          <a:p>
            <a:pPr indent="0" lvl="0" marL="457200" rtl="0" algn="l">
              <a:spcBef>
                <a:spcPts val="0"/>
              </a:spcBef>
              <a:spcAft>
                <a:spcPts val="0"/>
              </a:spcAft>
              <a:buNone/>
            </a:pPr>
            <a:r>
              <a:rPr lang="en" sz="1300">
                <a:solidFill>
                  <a:schemeClr val="dk1"/>
                </a:solidFill>
              </a:rPr>
              <a:t>sensor, which contains much of the same data as sensor_information and additional metadata such as public/private status</a:t>
            </a:r>
            <a:endParaRPr sz="1300">
              <a:solidFill>
                <a:schemeClr val="dk1"/>
              </a:solidFill>
            </a:endParaRPr>
          </a:p>
          <a:p>
            <a:pPr indent="0" lvl="0" marL="457200" rtl="0" algn="l">
              <a:spcBef>
                <a:spcPts val="0"/>
              </a:spcBef>
              <a:spcAft>
                <a:spcPts val="0"/>
              </a:spcAft>
              <a:buNone/>
            </a:pPr>
            <a:r>
              <a:t/>
            </a:r>
            <a:endParaRPr sz="1300">
              <a:solidFill>
                <a:schemeClr val="dk1"/>
              </a:solidFill>
            </a:endParaRPr>
          </a:p>
          <a:p>
            <a:pPr indent="0" lvl="0" marL="457200" rtl="0" algn="l">
              <a:spcBef>
                <a:spcPts val="0"/>
              </a:spcBef>
              <a:spcAft>
                <a:spcPts val="0"/>
              </a:spcAft>
              <a:buClr>
                <a:schemeClr val="dk1"/>
              </a:buClr>
              <a:buSzPts val="1100"/>
              <a:buFont typeface="Arial"/>
              <a:buNone/>
            </a:pPr>
            <a:r>
              <a:rPr lang="en" sz="1300">
                <a:solidFill>
                  <a:schemeClr val="dk1"/>
                </a:solidFill>
              </a:rPr>
              <a:t>trigger_pulls, a newly created table that keeps track of updates to the air_history table (more on this later)</a:t>
            </a:r>
            <a:endParaRPr sz="1300">
              <a:solidFill>
                <a:schemeClr val="dk1"/>
              </a:solidFill>
            </a:endParaRPr>
          </a:p>
          <a:p>
            <a:pPr indent="0" lvl="0" marL="0" rtl="0" algn="l">
              <a:spcBef>
                <a:spcPts val="0"/>
              </a:spcBef>
              <a:spcAft>
                <a:spcPts val="0"/>
              </a:spcAft>
              <a:buNone/>
            </a:pPr>
            <a:r>
              <a:t/>
            </a:r>
            <a:endParaRPr sz="1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761e23fd4817d80b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761e23fd4817d80b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The first portion of my research experience served as an introduction to SQL programming. I learned how to execute basic SQL queries on data tables and how to use those queries to perform database operations such as creating and deleting tables, data cleaning, and updating tables with new fields based on conditional statements. </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I then applied those programmatic elements to create an R script which could be configured to automatically update the CLEAR lab database every 24 hours. </a:t>
            </a:r>
            <a:endParaRPr/>
          </a:p>
          <a:p>
            <a:pPr indent="0" lvl="0" marL="0" rtl="0" algn="l">
              <a:spcBef>
                <a:spcPts val="0"/>
              </a:spcBef>
              <a:spcAft>
                <a:spcPts val="0"/>
              </a:spcAft>
              <a:buNone/>
            </a:pPr>
            <a:r>
              <a:rPr lang="en"/>
              <a:t>At a high level, the R script executes a 7-step workflow:</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AutoNum type="arabicParenR"/>
            </a:pPr>
            <a:r>
              <a:rPr lang="en"/>
              <a:t>Connects to the SQL database.</a:t>
            </a:r>
            <a:endParaRPr/>
          </a:p>
          <a:p>
            <a:pPr indent="-298450" lvl="0" marL="457200" rtl="0" algn="l">
              <a:spcBef>
                <a:spcPts val="0"/>
              </a:spcBef>
              <a:spcAft>
                <a:spcPts val="0"/>
              </a:spcAft>
              <a:buSzPts val="1100"/>
              <a:buAutoNum type="arabicParenR"/>
            </a:pPr>
            <a:r>
              <a:rPr lang="en"/>
              <a:t>Queries and stores a list of sensors labeled as active based on when the database says the sensor was last online.</a:t>
            </a:r>
            <a:endParaRPr/>
          </a:p>
          <a:p>
            <a:pPr indent="-298450" lvl="0" marL="457200" rtl="0" algn="l">
              <a:spcBef>
                <a:spcPts val="0"/>
              </a:spcBef>
              <a:spcAft>
                <a:spcPts val="0"/>
              </a:spcAft>
              <a:buSzPts val="1100"/>
              <a:buAutoNum type="arabicParenR"/>
            </a:pPr>
            <a:r>
              <a:rPr lang="en"/>
              <a:t>Pulls the updated date of when the sensor was online from the PurpleAir API.</a:t>
            </a:r>
            <a:endParaRPr/>
          </a:p>
          <a:p>
            <a:pPr indent="-298450" lvl="0" marL="457200" rtl="0" algn="l">
              <a:spcBef>
                <a:spcPts val="0"/>
              </a:spcBef>
              <a:spcAft>
                <a:spcPts val="0"/>
              </a:spcAft>
              <a:buSzPts val="1100"/>
              <a:buAutoNum type="arabicParenR"/>
            </a:pPr>
            <a:r>
              <a:rPr lang="en"/>
              <a:t>Iteratively compares the two last-online dates for each sensor. If the API’s last-online date is more recent, the corresponding row of the sensor_information table is updated with the new last_seen date.</a:t>
            </a:r>
            <a:endParaRPr/>
          </a:p>
          <a:p>
            <a:pPr indent="-298450" lvl="0" marL="457200" rtl="0" algn="l">
              <a:spcBef>
                <a:spcPts val="0"/>
              </a:spcBef>
              <a:spcAft>
                <a:spcPts val="0"/>
              </a:spcAft>
              <a:buSzPts val="1100"/>
              <a:buAutoNum type="arabicParenR"/>
            </a:pPr>
            <a:r>
              <a:rPr lang="en"/>
              <a:t>Historical sensor data is downloaded from the PurpleAir API for the sensors whose metadata was updated. The historical data is then appended to the air_history table on the database. </a:t>
            </a:r>
            <a:endParaRPr/>
          </a:p>
          <a:p>
            <a:pPr indent="-298450" lvl="0" marL="457200" rtl="0" algn="l">
              <a:spcBef>
                <a:spcPts val="0"/>
              </a:spcBef>
              <a:spcAft>
                <a:spcPts val="0"/>
              </a:spcAft>
              <a:buSzPts val="1100"/>
              <a:buAutoNum type="arabicParenR"/>
            </a:pPr>
            <a:r>
              <a:rPr lang="en"/>
              <a:t>The trigger_pulls table is updated with the time of the historical data download, the number of rows added to the air_history table, a list of the sensors with new historical data, and a unique ID number for the data download.</a:t>
            </a:r>
            <a:endParaRPr/>
          </a:p>
          <a:p>
            <a:pPr indent="-298450" lvl="0" marL="457200" rtl="0" algn="l">
              <a:spcBef>
                <a:spcPts val="0"/>
              </a:spcBef>
              <a:spcAft>
                <a:spcPts val="0"/>
              </a:spcAft>
              <a:buSzPts val="1100"/>
              <a:buAutoNum type="arabicParenR"/>
            </a:pPr>
            <a:r>
              <a:rPr lang="en"/>
              <a:t>Disconnects from the SQL database.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761e23fd4817d80b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761e23fd4817d80b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that the code is finalized, automating it requires the creation of something called a trigger. Essentially, a trigger is an event or </a:t>
            </a:r>
            <a:r>
              <a:rPr lang="en"/>
              <a:t>condition</a:t>
            </a:r>
            <a:r>
              <a:rPr lang="en"/>
              <a:t>, such as a specific time, that causes code to automatically run. The trigger, created in the Terminal, and the R script removes the need to manually update the database every 24 hours, allowing more time to be devoted to research questions. We are in the process of creating a trigger that will automatically execute the workflow on the </a:t>
            </a:r>
            <a:r>
              <a:rPr lang="en"/>
              <a:t>previous</a:t>
            </a:r>
            <a:r>
              <a:rPr lang="en"/>
              <a:t> slide every 24 hours, updating the trigger_pulls, sensor_information, and air_history tables daily. What you see here is a trigger that I set up in my Terminal, which automatically runs my R script every night at midnight. Dr. Whalen and I are currently working on creating a trigger that can be uploaded to a cloud server for the long term.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761e23fd4817d80b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761e23fd4817d80b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ea259f20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eea259f20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358858" y="1936193"/>
            <a:ext cx="8520600" cy="2052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Understanding Air Quality Through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 sz="3578"/>
              <a:t>Justin Peabody, Dr. Whalen</a:t>
            </a:r>
            <a:endParaRPr sz="3578"/>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p:nvPr/>
        </p:nvSpPr>
        <p:spPr>
          <a:xfrm>
            <a:off x="7800" y="2138300"/>
            <a:ext cx="9144000" cy="12450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65" name="Google Shape;65;p14"/>
          <p:cNvSpPr txBox="1"/>
          <p:nvPr>
            <p:ph idx="1" type="subTitle"/>
          </p:nvPr>
        </p:nvSpPr>
        <p:spPr>
          <a:xfrm>
            <a:off x="30300" y="1387100"/>
            <a:ext cx="9099000" cy="1996200"/>
          </a:xfrm>
          <a:prstGeom prst="rect">
            <a:avLst/>
          </a:prstGeom>
        </p:spPr>
        <p:txBody>
          <a:bodyPr anchorCtr="0" anchor="t" bIns="91425" lIns="91425" spcFirstLastPara="1" rIns="91425" wrap="square" tIns="91425">
            <a:normAutofit fontScale="25000" lnSpcReduction="20000"/>
          </a:bodyPr>
          <a:lstStyle/>
          <a:p>
            <a:pPr indent="-342900" lvl="0" marL="457200" rtl="0" algn="l">
              <a:spcBef>
                <a:spcPts val="0"/>
              </a:spcBef>
              <a:spcAft>
                <a:spcPts val="0"/>
              </a:spcAft>
              <a:buSzPct val="100000"/>
              <a:buChar char="●"/>
            </a:pPr>
            <a:r>
              <a:rPr lang="en" sz="7200"/>
              <a:t>CLEAR = </a:t>
            </a:r>
            <a:r>
              <a:rPr lang="en" sz="7200"/>
              <a:t>Community</a:t>
            </a:r>
            <a:r>
              <a:rPr lang="en" sz="7200"/>
              <a:t> and Local Engaged Air Research</a:t>
            </a:r>
            <a:endParaRPr sz="7200"/>
          </a:p>
          <a:p>
            <a:pPr indent="0" lvl="0" marL="0" rtl="0" algn="l">
              <a:spcBef>
                <a:spcPts val="0"/>
              </a:spcBef>
              <a:spcAft>
                <a:spcPts val="0"/>
              </a:spcAft>
              <a:buNone/>
            </a:pPr>
            <a:r>
              <a:t/>
            </a:r>
            <a:endParaRPr sz="7200"/>
          </a:p>
          <a:p>
            <a:pPr indent="0" lvl="0" marL="0" rtl="0" algn="l">
              <a:spcBef>
                <a:spcPts val="0"/>
              </a:spcBef>
              <a:spcAft>
                <a:spcPts val="0"/>
              </a:spcAft>
              <a:buNone/>
            </a:pPr>
            <a:r>
              <a:t/>
            </a:r>
            <a:endParaRPr sz="7200"/>
          </a:p>
          <a:p>
            <a:pPr indent="-342900" lvl="0" marL="457200" rtl="0" algn="l">
              <a:spcBef>
                <a:spcPts val="0"/>
              </a:spcBef>
              <a:spcAft>
                <a:spcPts val="0"/>
              </a:spcAft>
              <a:buSzPct val="100000"/>
              <a:buChar char="●"/>
            </a:pPr>
            <a:r>
              <a:rPr lang="en" sz="7200"/>
              <a:t>Multidisciplinary </a:t>
            </a:r>
            <a:r>
              <a:rPr lang="en" sz="7200"/>
              <a:t>student/faculty</a:t>
            </a:r>
            <a:r>
              <a:rPr lang="en" sz="7200"/>
              <a:t> air quality research team</a:t>
            </a:r>
            <a:endParaRPr sz="7200"/>
          </a:p>
          <a:p>
            <a:pPr indent="0" lvl="0" marL="0" rtl="0" algn="l">
              <a:spcBef>
                <a:spcPts val="0"/>
              </a:spcBef>
              <a:spcAft>
                <a:spcPts val="0"/>
              </a:spcAft>
              <a:buNone/>
            </a:pPr>
            <a:r>
              <a:t/>
            </a:r>
            <a:endParaRPr sz="7200"/>
          </a:p>
          <a:p>
            <a:pPr indent="0" lvl="0" marL="0" rtl="0" algn="l">
              <a:spcBef>
                <a:spcPts val="0"/>
              </a:spcBef>
              <a:spcAft>
                <a:spcPts val="0"/>
              </a:spcAft>
              <a:buNone/>
            </a:pPr>
            <a:r>
              <a:t/>
            </a:r>
            <a:endParaRPr sz="7200"/>
          </a:p>
          <a:p>
            <a:pPr indent="-342900" lvl="0" marL="457200" rtl="0" algn="l">
              <a:spcBef>
                <a:spcPts val="0"/>
              </a:spcBef>
              <a:spcAft>
                <a:spcPts val="0"/>
              </a:spcAft>
              <a:buSzPct val="100000"/>
              <a:buChar char="●"/>
            </a:pPr>
            <a:r>
              <a:rPr lang="en" sz="7200"/>
              <a:t>Goals: </a:t>
            </a:r>
            <a:endParaRPr sz="7200"/>
          </a:p>
          <a:p>
            <a:pPr indent="-342900" lvl="0" marL="457200" rtl="0" algn="l">
              <a:spcBef>
                <a:spcPts val="0"/>
              </a:spcBef>
              <a:spcAft>
                <a:spcPts val="0"/>
              </a:spcAft>
              <a:buSzPct val="100000"/>
              <a:buChar char="➢"/>
            </a:pPr>
            <a:r>
              <a:rPr lang="en" sz="7200"/>
              <a:t>air quality (AQ) sensor installation</a:t>
            </a:r>
            <a:endParaRPr sz="7200"/>
          </a:p>
          <a:p>
            <a:pPr indent="-342900" lvl="0" marL="457200" rtl="0" algn="l">
              <a:spcBef>
                <a:spcPts val="0"/>
              </a:spcBef>
              <a:spcAft>
                <a:spcPts val="0"/>
              </a:spcAft>
              <a:buSzPct val="100000"/>
              <a:buChar char="➢"/>
            </a:pPr>
            <a:r>
              <a:rPr lang="en" sz="7200"/>
              <a:t>analyzing/mapping sensor data</a:t>
            </a:r>
            <a:endParaRPr sz="7200"/>
          </a:p>
          <a:p>
            <a:pPr indent="-342900" lvl="0" marL="457200" rtl="0" algn="l">
              <a:spcBef>
                <a:spcPts val="0"/>
              </a:spcBef>
              <a:spcAft>
                <a:spcPts val="0"/>
              </a:spcAft>
              <a:buSzPct val="100000"/>
              <a:buChar char="➢"/>
            </a:pPr>
            <a:r>
              <a:rPr lang="en" sz="7200"/>
              <a:t>research and public education</a:t>
            </a:r>
            <a:endParaRPr sz="7200"/>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p:txBody>
      </p:sp>
      <p:sp>
        <p:nvSpPr>
          <p:cNvPr id="66" name="Google Shape;66;p14"/>
          <p:cNvSpPr txBox="1"/>
          <p:nvPr>
            <p:ph type="ctrTitle"/>
          </p:nvPr>
        </p:nvSpPr>
        <p:spPr>
          <a:xfrm>
            <a:off x="311700" y="-32789"/>
            <a:ext cx="8520600" cy="11640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The CLEAR lab</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p:nvPr/>
        </p:nvSpPr>
        <p:spPr>
          <a:xfrm>
            <a:off x="7800" y="2138300"/>
            <a:ext cx="9144000" cy="12450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72" name="Google Shape;72;p15"/>
          <p:cNvSpPr txBox="1"/>
          <p:nvPr>
            <p:ph type="ctrTitle"/>
          </p:nvPr>
        </p:nvSpPr>
        <p:spPr>
          <a:xfrm>
            <a:off x="311700" y="-32789"/>
            <a:ext cx="8520600" cy="11640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PM2.5</a:t>
            </a:r>
            <a:endParaRPr/>
          </a:p>
        </p:txBody>
      </p:sp>
      <p:sp>
        <p:nvSpPr>
          <p:cNvPr id="73" name="Google Shape;73;p15"/>
          <p:cNvSpPr txBox="1"/>
          <p:nvPr/>
        </p:nvSpPr>
        <p:spPr>
          <a:xfrm>
            <a:off x="7800" y="1294100"/>
            <a:ext cx="5090400" cy="15051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Particulate matter: suspended air particles </a:t>
            </a:r>
            <a:endParaRPr sz="18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8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PM2.5: particulate matter &lt; 2.5 um in diameter</a:t>
            </a:r>
            <a:endParaRPr sz="18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8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Smaller particles pose highest health risk</a:t>
            </a:r>
            <a:endParaRPr sz="18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8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Sources: fossil fuels, industry, </a:t>
            </a:r>
            <a:endParaRPr sz="1800">
              <a:solidFill>
                <a:schemeClr val="lt1"/>
              </a:solidFill>
              <a:latin typeface="Proxima Nova"/>
              <a:ea typeface="Proxima Nova"/>
              <a:cs typeface="Proxima Nova"/>
              <a:sym typeface="Proxima Nova"/>
            </a:endParaRPr>
          </a:p>
          <a:p>
            <a:pPr indent="0" lvl="0" marL="457200" rtl="0" algn="l">
              <a:spcBef>
                <a:spcPts val="0"/>
              </a:spcBef>
              <a:spcAft>
                <a:spcPts val="0"/>
              </a:spcAft>
              <a:buNone/>
            </a:pPr>
            <a:r>
              <a:rPr lang="en" sz="1800">
                <a:solidFill>
                  <a:schemeClr val="lt1"/>
                </a:solidFill>
                <a:latin typeface="Proxima Nova"/>
                <a:ea typeface="Proxima Nova"/>
                <a:cs typeface="Proxima Nova"/>
                <a:sym typeface="Proxima Nova"/>
              </a:rPr>
              <a:t>vehicle exhaust, wildfire smoke</a:t>
            </a:r>
            <a:endParaRPr sz="18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800">
              <a:solidFill>
                <a:schemeClr val="lt1"/>
              </a:solidFill>
            </a:endParaRPr>
          </a:p>
        </p:txBody>
      </p:sp>
      <p:pic>
        <p:nvPicPr>
          <p:cNvPr id="74" name="Google Shape;74;p15" title="Screenshot 2026-06-08 at 12.35.51 PM.png"/>
          <p:cNvPicPr preferRelativeResize="0"/>
          <p:nvPr/>
        </p:nvPicPr>
        <p:blipFill>
          <a:blip r:embed="rId3">
            <a:alphaModFix/>
          </a:blip>
          <a:stretch>
            <a:fillRect/>
          </a:stretch>
        </p:blipFill>
        <p:spPr>
          <a:xfrm>
            <a:off x="4955900" y="1220400"/>
            <a:ext cx="4255450" cy="30807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p:nvPr/>
        </p:nvSpPr>
        <p:spPr>
          <a:xfrm>
            <a:off x="0" y="2619800"/>
            <a:ext cx="9144000" cy="12450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80" name="Google Shape;80;p16"/>
          <p:cNvSpPr txBox="1"/>
          <p:nvPr>
            <p:ph type="ctrTitle"/>
          </p:nvPr>
        </p:nvSpPr>
        <p:spPr>
          <a:xfrm>
            <a:off x="241800" y="127936"/>
            <a:ext cx="8520600" cy="999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PurpleAir Sensors</a:t>
            </a:r>
            <a:endParaRPr/>
          </a:p>
        </p:txBody>
      </p:sp>
      <p:sp>
        <p:nvSpPr>
          <p:cNvPr id="81" name="Google Shape;81;p16"/>
          <p:cNvSpPr txBox="1"/>
          <p:nvPr>
            <p:ph idx="1" type="subTitle"/>
          </p:nvPr>
        </p:nvSpPr>
        <p:spPr>
          <a:xfrm>
            <a:off x="241800" y="1575775"/>
            <a:ext cx="4696800" cy="3024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sz="1800"/>
              <a:t>PurpleAir: affordable AQ sensor </a:t>
            </a:r>
            <a:r>
              <a:rPr lang="en" sz="1800"/>
              <a:t>manufacturing</a:t>
            </a:r>
            <a:r>
              <a:rPr lang="en" sz="1800"/>
              <a:t> company</a:t>
            </a:r>
            <a:endParaRPr sz="1800"/>
          </a:p>
          <a:p>
            <a:pPr indent="0" lvl="0" marL="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Offers smaller, more portable, higher-granularity sensors than EPA</a:t>
            </a:r>
            <a:endParaRPr sz="1800"/>
          </a:p>
          <a:p>
            <a:pPr indent="0" lvl="0" marL="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92</a:t>
            </a:r>
            <a:r>
              <a:rPr lang="en" sz="1800"/>
              <a:t> sensors in Chicago</a:t>
            </a:r>
            <a:r>
              <a:rPr lang="en" sz="1800"/>
              <a:t>, 62 of which are active</a:t>
            </a:r>
            <a:endParaRPr sz="1800"/>
          </a:p>
          <a:p>
            <a:pPr indent="0" lvl="0" marL="0" rtl="0" algn="l">
              <a:spcBef>
                <a:spcPts val="0"/>
              </a:spcBef>
              <a:spcAft>
                <a:spcPts val="0"/>
              </a:spcAft>
              <a:buNone/>
            </a:pPr>
            <a:r>
              <a:t/>
            </a:r>
            <a:endParaRPr sz="1800"/>
          </a:p>
        </p:txBody>
      </p:sp>
      <p:pic>
        <p:nvPicPr>
          <p:cNvPr id="82" name="Google Shape;82;p16" title="Unknown.png"/>
          <p:cNvPicPr preferRelativeResize="0"/>
          <p:nvPr/>
        </p:nvPicPr>
        <p:blipFill>
          <a:blip r:embed="rId3">
            <a:alphaModFix/>
          </a:blip>
          <a:stretch>
            <a:fillRect/>
          </a:stretch>
        </p:blipFill>
        <p:spPr>
          <a:xfrm>
            <a:off x="4890300" y="1611300"/>
            <a:ext cx="4253700" cy="23413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p:nvPr/>
        </p:nvSpPr>
        <p:spPr>
          <a:xfrm>
            <a:off x="7800" y="2138300"/>
            <a:ext cx="9144000" cy="12450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88" name="Google Shape;88;p17"/>
          <p:cNvSpPr txBox="1"/>
          <p:nvPr>
            <p:ph type="ctrTitle"/>
          </p:nvPr>
        </p:nvSpPr>
        <p:spPr>
          <a:xfrm>
            <a:off x="241800" y="127936"/>
            <a:ext cx="8520600" cy="999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PurpleAir Sensors</a:t>
            </a:r>
            <a:endParaRPr/>
          </a:p>
        </p:txBody>
      </p:sp>
      <p:sp>
        <p:nvSpPr>
          <p:cNvPr id="89" name="Google Shape;89;p17"/>
          <p:cNvSpPr txBox="1"/>
          <p:nvPr>
            <p:ph idx="1" type="subTitle"/>
          </p:nvPr>
        </p:nvSpPr>
        <p:spPr>
          <a:xfrm>
            <a:off x="241800" y="1575775"/>
            <a:ext cx="4696800" cy="3024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sz="1800"/>
              <a:t>work both indoors and outdoors</a:t>
            </a:r>
            <a:endParaRPr sz="1800"/>
          </a:p>
          <a:p>
            <a:pPr indent="0" lvl="0" marL="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Measure PM2.5, </a:t>
            </a:r>
            <a:r>
              <a:rPr lang="en" sz="1800"/>
              <a:t>humidity</a:t>
            </a:r>
            <a:r>
              <a:rPr lang="en" sz="1800"/>
              <a:t>, temperature, and atmospheric pressure </a:t>
            </a:r>
            <a:endParaRPr sz="1800"/>
          </a:p>
          <a:p>
            <a:pPr indent="0" lvl="0" marL="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Readings uploaded to cloud based server, accessible via </a:t>
            </a:r>
            <a:r>
              <a:rPr lang="en" sz="1800"/>
              <a:t>API</a:t>
            </a:r>
            <a:endParaRPr sz="1800"/>
          </a:p>
        </p:txBody>
      </p:sp>
      <p:pic>
        <p:nvPicPr>
          <p:cNvPr id="90" name="Google Shape;90;p17" title="90.jpeg"/>
          <p:cNvPicPr preferRelativeResize="0"/>
          <p:nvPr/>
        </p:nvPicPr>
        <p:blipFill rotWithShape="1">
          <a:blip r:embed="rId3">
            <a:alphaModFix/>
          </a:blip>
          <a:srcRect b="18180" l="0" r="0" t="7370"/>
          <a:stretch/>
        </p:blipFill>
        <p:spPr>
          <a:xfrm>
            <a:off x="5081775" y="1380600"/>
            <a:ext cx="4062225" cy="30246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p:nvPr/>
        </p:nvSpPr>
        <p:spPr>
          <a:xfrm>
            <a:off x="0" y="2571750"/>
            <a:ext cx="9144000" cy="12450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96" name="Google Shape;96;p18"/>
          <p:cNvSpPr txBox="1"/>
          <p:nvPr>
            <p:ph idx="1" type="subTitle"/>
          </p:nvPr>
        </p:nvSpPr>
        <p:spPr>
          <a:xfrm>
            <a:off x="357075" y="1567975"/>
            <a:ext cx="4299000" cy="2457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sz="1800"/>
              <a:t>API = Application Programming Interface</a:t>
            </a:r>
            <a:endParaRPr sz="1800"/>
          </a:p>
          <a:p>
            <a:pPr indent="0" lvl="0" marL="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Allows connection between servers/applications</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p:txBody>
      </p:sp>
      <p:sp>
        <p:nvSpPr>
          <p:cNvPr id="97" name="Google Shape;97;p18"/>
          <p:cNvSpPr txBox="1"/>
          <p:nvPr>
            <p:ph type="ctrTitle"/>
          </p:nvPr>
        </p:nvSpPr>
        <p:spPr>
          <a:xfrm>
            <a:off x="241800" y="127936"/>
            <a:ext cx="8520600" cy="999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PurpleAir API</a:t>
            </a:r>
            <a:endParaRPr/>
          </a:p>
        </p:txBody>
      </p:sp>
      <p:pic>
        <p:nvPicPr>
          <p:cNvPr id="98" name="Google Shape;98;p18" title="Screenshot 2026-06-10 at 9.19.09 AM.png"/>
          <p:cNvPicPr preferRelativeResize="0"/>
          <p:nvPr/>
        </p:nvPicPr>
        <p:blipFill>
          <a:blip r:embed="rId3">
            <a:alphaModFix/>
          </a:blip>
          <a:stretch>
            <a:fillRect/>
          </a:stretch>
        </p:blipFill>
        <p:spPr>
          <a:xfrm>
            <a:off x="4845000" y="1370050"/>
            <a:ext cx="4298998" cy="2457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pic>
        <p:nvPicPr>
          <p:cNvPr id="103" name="Google Shape;103;p19" title="Screenshot 2026-06-08 at 10.58.54 AM.png"/>
          <p:cNvPicPr preferRelativeResize="0"/>
          <p:nvPr/>
        </p:nvPicPr>
        <p:blipFill rotWithShape="1">
          <a:blip r:embed="rId3">
            <a:alphaModFix/>
          </a:blip>
          <a:srcRect b="9682" l="-1096" r="9763" t="6566"/>
          <a:stretch/>
        </p:blipFill>
        <p:spPr>
          <a:xfrm>
            <a:off x="992450" y="1082800"/>
            <a:ext cx="7034151" cy="4060699"/>
          </a:xfrm>
          <a:prstGeom prst="rect">
            <a:avLst/>
          </a:prstGeom>
          <a:noFill/>
          <a:ln>
            <a:noFill/>
          </a:ln>
        </p:spPr>
      </p:pic>
      <p:sp>
        <p:nvSpPr>
          <p:cNvPr id="104" name="Google Shape;104;p19"/>
          <p:cNvSpPr/>
          <p:nvPr/>
        </p:nvSpPr>
        <p:spPr>
          <a:xfrm>
            <a:off x="0" y="2273775"/>
            <a:ext cx="691500" cy="1417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05" name="Google Shape;105;p19"/>
          <p:cNvSpPr/>
          <p:nvPr/>
        </p:nvSpPr>
        <p:spPr>
          <a:xfrm>
            <a:off x="8258300" y="2326475"/>
            <a:ext cx="885600" cy="1417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06" name="Google Shape;106;p19"/>
          <p:cNvSpPr/>
          <p:nvPr/>
        </p:nvSpPr>
        <p:spPr>
          <a:xfrm>
            <a:off x="0" y="2273775"/>
            <a:ext cx="1062600" cy="1417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07" name="Google Shape;107;p19"/>
          <p:cNvSpPr/>
          <p:nvPr/>
        </p:nvSpPr>
        <p:spPr>
          <a:xfrm>
            <a:off x="8037150" y="2326475"/>
            <a:ext cx="1062600" cy="1417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08" name="Google Shape;108;p19"/>
          <p:cNvSpPr txBox="1"/>
          <p:nvPr>
            <p:ph type="ctrTitle"/>
          </p:nvPr>
        </p:nvSpPr>
        <p:spPr>
          <a:xfrm>
            <a:off x="223975" y="127940"/>
            <a:ext cx="8520600" cy="999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Database Structure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0"/>
          <p:cNvSpPr/>
          <p:nvPr/>
        </p:nvSpPr>
        <p:spPr>
          <a:xfrm>
            <a:off x="0" y="2469600"/>
            <a:ext cx="9144000" cy="12450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14" name="Google Shape;114;p20"/>
          <p:cNvSpPr txBox="1"/>
          <p:nvPr>
            <p:ph type="ctrTitle"/>
          </p:nvPr>
        </p:nvSpPr>
        <p:spPr>
          <a:xfrm>
            <a:off x="230988" y="-920794"/>
            <a:ext cx="8520600" cy="2052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Database update script</a:t>
            </a:r>
            <a:endParaRPr/>
          </a:p>
        </p:txBody>
      </p:sp>
      <p:sp>
        <p:nvSpPr>
          <p:cNvPr id="115" name="Google Shape;115;p20"/>
          <p:cNvSpPr txBox="1"/>
          <p:nvPr>
            <p:ph idx="1" type="subTitle"/>
          </p:nvPr>
        </p:nvSpPr>
        <p:spPr>
          <a:xfrm>
            <a:off x="0" y="5179553"/>
            <a:ext cx="8520600" cy="3104700"/>
          </a:xfrm>
          <a:prstGeom prst="rect">
            <a:avLst/>
          </a:prstGeom>
        </p:spPr>
        <p:txBody>
          <a:bodyPr anchorCtr="0" anchor="t" bIns="91425" lIns="91425" spcFirstLastPara="1" rIns="91425" wrap="square" tIns="91425">
            <a:normAutofit fontScale="62500" lnSpcReduction="20000"/>
          </a:bodyPr>
          <a:lstStyle/>
          <a:p>
            <a:pPr indent="-323850" lvl="0" marL="457200" rtl="0" algn="l">
              <a:spcBef>
                <a:spcPts val="0"/>
              </a:spcBef>
              <a:spcAft>
                <a:spcPts val="0"/>
              </a:spcAft>
              <a:buSzPct val="100000"/>
              <a:buChar char="●"/>
            </a:pPr>
            <a:r>
              <a:rPr lang="en"/>
              <a:t>Introduction to SQL programming</a:t>
            </a:r>
            <a:endParaRPr/>
          </a:p>
          <a:p>
            <a:pPr indent="0" lvl="0" marL="0" rtl="0" algn="l">
              <a:spcBef>
                <a:spcPts val="0"/>
              </a:spcBef>
              <a:spcAft>
                <a:spcPts val="0"/>
              </a:spcAft>
              <a:buNone/>
            </a:pPr>
            <a:r>
              <a:t/>
            </a:r>
            <a:endParaRPr/>
          </a:p>
          <a:p>
            <a:pPr indent="-323850" lvl="0" marL="457200" rtl="0" algn="l">
              <a:spcBef>
                <a:spcPts val="0"/>
              </a:spcBef>
              <a:spcAft>
                <a:spcPts val="0"/>
              </a:spcAft>
              <a:buSzPct val="100000"/>
              <a:buChar char="●"/>
            </a:pPr>
            <a:r>
              <a:rPr lang="en"/>
              <a:t>Created an R script to execute this </a:t>
            </a:r>
            <a:r>
              <a:rPr lang="en"/>
              <a:t>workflow</a:t>
            </a: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334509" lvl="0" marL="457200" rtl="0" algn="l">
              <a:spcBef>
                <a:spcPts val="0"/>
              </a:spcBef>
              <a:spcAft>
                <a:spcPts val="0"/>
              </a:spcAft>
              <a:buSzPct val="100000"/>
              <a:buAutoNum type="arabicParenR"/>
            </a:pPr>
            <a:r>
              <a:rPr lang="en" sz="2669"/>
              <a:t>Connect to CLEAR lab database</a:t>
            </a:r>
            <a:endParaRPr sz="2669"/>
          </a:p>
          <a:p>
            <a:pPr indent="-334509" lvl="0" marL="457200" rtl="0" algn="l">
              <a:spcBef>
                <a:spcPts val="0"/>
              </a:spcBef>
              <a:spcAft>
                <a:spcPts val="0"/>
              </a:spcAft>
              <a:buSzPct val="100000"/>
              <a:buAutoNum type="arabicParenR"/>
            </a:pPr>
            <a:r>
              <a:rPr lang="en" sz="2669"/>
              <a:t>Query active sensors</a:t>
            </a:r>
            <a:endParaRPr sz="2669"/>
          </a:p>
          <a:p>
            <a:pPr indent="-334509" lvl="0" marL="457200" rtl="0" algn="l">
              <a:spcBef>
                <a:spcPts val="0"/>
              </a:spcBef>
              <a:spcAft>
                <a:spcPts val="0"/>
              </a:spcAft>
              <a:buSzPct val="100000"/>
              <a:buAutoNum type="arabicParenR"/>
            </a:pPr>
            <a:r>
              <a:rPr lang="en" sz="2669"/>
              <a:t>Download updated last_seen dates of active sensors</a:t>
            </a:r>
            <a:endParaRPr sz="2669"/>
          </a:p>
          <a:p>
            <a:pPr indent="-334509" lvl="0" marL="457200" rtl="0" algn="l">
              <a:spcBef>
                <a:spcPts val="0"/>
              </a:spcBef>
              <a:spcAft>
                <a:spcPts val="0"/>
              </a:spcAft>
              <a:buSzPct val="100000"/>
              <a:buAutoNum type="arabicParenR"/>
            </a:pPr>
            <a:r>
              <a:rPr lang="en" sz="2669"/>
              <a:t>Update sensor metadata</a:t>
            </a:r>
            <a:endParaRPr sz="2669"/>
          </a:p>
          <a:p>
            <a:pPr indent="-334509" lvl="0" marL="457200" rtl="0" algn="l">
              <a:spcBef>
                <a:spcPts val="0"/>
              </a:spcBef>
              <a:spcAft>
                <a:spcPts val="0"/>
              </a:spcAft>
              <a:buSzPct val="100000"/>
              <a:buAutoNum type="arabicParenR"/>
            </a:pPr>
            <a:r>
              <a:rPr lang="en" sz="2669"/>
              <a:t>Download historical data</a:t>
            </a:r>
            <a:endParaRPr sz="2669"/>
          </a:p>
          <a:p>
            <a:pPr indent="-334509" lvl="0" marL="457200" rtl="0" algn="l">
              <a:spcBef>
                <a:spcPts val="0"/>
              </a:spcBef>
              <a:spcAft>
                <a:spcPts val="0"/>
              </a:spcAft>
              <a:buSzPct val="100000"/>
              <a:buAutoNum type="arabicParenR"/>
            </a:pPr>
            <a:r>
              <a:rPr lang="en" sz="2669"/>
              <a:t>Update trigger_pulls table</a:t>
            </a:r>
            <a:endParaRPr sz="2669"/>
          </a:p>
          <a:p>
            <a:pPr indent="-334509" lvl="0" marL="457200" rtl="0" algn="l">
              <a:spcBef>
                <a:spcPts val="0"/>
              </a:spcBef>
              <a:spcAft>
                <a:spcPts val="0"/>
              </a:spcAft>
              <a:buSzPct val="100000"/>
              <a:buAutoNum type="arabicParenR"/>
            </a:pPr>
            <a:r>
              <a:rPr lang="en" sz="2669"/>
              <a:t>Disconnect from database</a:t>
            </a:r>
            <a:endParaRPr sz="2669"/>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p:txBody>
      </p:sp>
      <p:sp>
        <p:nvSpPr>
          <p:cNvPr id="116" name="Google Shape;116;p20"/>
          <p:cNvSpPr/>
          <p:nvPr/>
        </p:nvSpPr>
        <p:spPr>
          <a:xfrm>
            <a:off x="618775" y="1270650"/>
            <a:ext cx="1449600" cy="14376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17" name="Google Shape;117;p20"/>
          <p:cNvSpPr txBox="1"/>
          <p:nvPr/>
        </p:nvSpPr>
        <p:spPr>
          <a:xfrm>
            <a:off x="715400" y="1675650"/>
            <a:ext cx="1449600" cy="62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Proxima Nova"/>
                <a:ea typeface="Proxima Nova"/>
                <a:cs typeface="Proxima Nova"/>
                <a:sym typeface="Proxima Nova"/>
              </a:rPr>
              <a:t>Connect to </a:t>
            </a:r>
            <a:r>
              <a:rPr lang="en" sz="1800">
                <a:solidFill>
                  <a:srgbClr val="FFFFFF"/>
                </a:solidFill>
                <a:latin typeface="Proxima Nova"/>
                <a:ea typeface="Proxima Nova"/>
                <a:cs typeface="Proxima Nova"/>
                <a:sym typeface="Proxima Nova"/>
              </a:rPr>
              <a:t>database</a:t>
            </a:r>
            <a:endParaRPr sz="1800">
              <a:solidFill>
                <a:srgbClr val="FFFFFF"/>
              </a:solidFill>
              <a:latin typeface="Proxima Nova"/>
              <a:ea typeface="Proxima Nova"/>
              <a:cs typeface="Proxima Nova"/>
              <a:sym typeface="Proxima Nova"/>
            </a:endParaRPr>
          </a:p>
        </p:txBody>
      </p:sp>
      <p:sp>
        <p:nvSpPr>
          <p:cNvPr id="118" name="Google Shape;118;p20"/>
          <p:cNvSpPr/>
          <p:nvPr/>
        </p:nvSpPr>
        <p:spPr>
          <a:xfrm>
            <a:off x="2861425" y="1270650"/>
            <a:ext cx="1449600" cy="14376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19" name="Google Shape;119;p20"/>
          <p:cNvSpPr txBox="1"/>
          <p:nvPr/>
        </p:nvSpPr>
        <p:spPr>
          <a:xfrm>
            <a:off x="3122400" y="1511125"/>
            <a:ext cx="1449600" cy="62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Proxima Nova"/>
                <a:ea typeface="Proxima Nova"/>
                <a:cs typeface="Proxima Nova"/>
                <a:sym typeface="Proxima Nova"/>
              </a:rPr>
              <a:t>Query active sensors</a:t>
            </a:r>
            <a:endParaRPr sz="1800">
              <a:solidFill>
                <a:srgbClr val="FFFFFF"/>
              </a:solidFill>
              <a:latin typeface="Proxima Nova"/>
              <a:ea typeface="Proxima Nova"/>
              <a:cs typeface="Proxima Nova"/>
              <a:sym typeface="Proxima Nova"/>
            </a:endParaRPr>
          </a:p>
        </p:txBody>
      </p:sp>
      <p:sp>
        <p:nvSpPr>
          <p:cNvPr id="120" name="Google Shape;120;p20"/>
          <p:cNvSpPr/>
          <p:nvPr/>
        </p:nvSpPr>
        <p:spPr>
          <a:xfrm>
            <a:off x="5104075" y="1270650"/>
            <a:ext cx="1449600" cy="14376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21" name="Google Shape;121;p20"/>
          <p:cNvSpPr txBox="1"/>
          <p:nvPr/>
        </p:nvSpPr>
        <p:spPr>
          <a:xfrm>
            <a:off x="5230550" y="1536025"/>
            <a:ext cx="1449600" cy="62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Proxima Nova"/>
                <a:ea typeface="Proxima Nova"/>
                <a:cs typeface="Proxima Nova"/>
                <a:sym typeface="Proxima Nova"/>
              </a:rPr>
              <a:t>Download updated metadata</a:t>
            </a:r>
            <a:endParaRPr sz="1800">
              <a:solidFill>
                <a:srgbClr val="FFFFFF"/>
              </a:solidFill>
              <a:latin typeface="Proxima Nova"/>
              <a:ea typeface="Proxima Nova"/>
              <a:cs typeface="Proxima Nova"/>
              <a:sym typeface="Proxima Nova"/>
            </a:endParaRPr>
          </a:p>
        </p:txBody>
      </p:sp>
      <p:sp>
        <p:nvSpPr>
          <p:cNvPr id="122" name="Google Shape;122;p20"/>
          <p:cNvSpPr/>
          <p:nvPr/>
        </p:nvSpPr>
        <p:spPr>
          <a:xfrm>
            <a:off x="7338700" y="1270650"/>
            <a:ext cx="1449600" cy="14376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23" name="Google Shape;123;p20"/>
          <p:cNvSpPr txBox="1"/>
          <p:nvPr/>
        </p:nvSpPr>
        <p:spPr>
          <a:xfrm>
            <a:off x="7465175" y="1486900"/>
            <a:ext cx="1449600" cy="62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Proxima Nova"/>
                <a:ea typeface="Proxima Nova"/>
                <a:cs typeface="Proxima Nova"/>
                <a:sym typeface="Proxima Nova"/>
              </a:rPr>
              <a:t>Update sensor_</a:t>
            </a:r>
            <a:endParaRPr sz="1800">
              <a:solidFill>
                <a:srgbClr val="FFFFFF"/>
              </a:solidFill>
              <a:latin typeface="Proxima Nova"/>
              <a:ea typeface="Proxima Nova"/>
              <a:cs typeface="Proxima Nova"/>
              <a:sym typeface="Proxima Nova"/>
            </a:endParaRPr>
          </a:p>
          <a:p>
            <a:pPr indent="0" lvl="0" marL="0" rtl="0" algn="l">
              <a:spcBef>
                <a:spcPts val="0"/>
              </a:spcBef>
              <a:spcAft>
                <a:spcPts val="0"/>
              </a:spcAft>
              <a:buNone/>
            </a:pPr>
            <a:r>
              <a:rPr lang="en" sz="1800">
                <a:solidFill>
                  <a:srgbClr val="FFFFFF"/>
                </a:solidFill>
                <a:latin typeface="Proxima Nova"/>
                <a:ea typeface="Proxima Nova"/>
                <a:cs typeface="Proxima Nova"/>
                <a:sym typeface="Proxima Nova"/>
              </a:rPr>
              <a:t>information </a:t>
            </a:r>
            <a:endParaRPr sz="1800">
              <a:solidFill>
                <a:srgbClr val="FFFFFF"/>
              </a:solidFill>
              <a:latin typeface="Proxima Nova"/>
              <a:ea typeface="Proxima Nova"/>
              <a:cs typeface="Proxima Nova"/>
              <a:sym typeface="Proxima Nova"/>
            </a:endParaRPr>
          </a:p>
        </p:txBody>
      </p:sp>
      <p:sp>
        <p:nvSpPr>
          <p:cNvPr id="124" name="Google Shape;124;p20"/>
          <p:cNvSpPr/>
          <p:nvPr/>
        </p:nvSpPr>
        <p:spPr>
          <a:xfrm>
            <a:off x="7398400" y="3458150"/>
            <a:ext cx="1449600" cy="13743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25" name="Google Shape;125;p20"/>
          <p:cNvSpPr txBox="1"/>
          <p:nvPr/>
        </p:nvSpPr>
        <p:spPr>
          <a:xfrm>
            <a:off x="7581000" y="3630100"/>
            <a:ext cx="1449600" cy="62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Proxima Nova"/>
                <a:ea typeface="Proxima Nova"/>
                <a:cs typeface="Proxima Nova"/>
                <a:sym typeface="Proxima Nova"/>
              </a:rPr>
              <a:t>Download historical data</a:t>
            </a:r>
            <a:endParaRPr sz="1800">
              <a:solidFill>
                <a:srgbClr val="FFFFFF"/>
              </a:solidFill>
              <a:latin typeface="Proxima Nova"/>
              <a:ea typeface="Proxima Nova"/>
              <a:cs typeface="Proxima Nova"/>
              <a:sym typeface="Proxima Nova"/>
            </a:endParaRPr>
          </a:p>
        </p:txBody>
      </p:sp>
      <p:sp>
        <p:nvSpPr>
          <p:cNvPr id="126" name="Google Shape;126;p20"/>
          <p:cNvSpPr/>
          <p:nvPr/>
        </p:nvSpPr>
        <p:spPr>
          <a:xfrm>
            <a:off x="5197900" y="3458150"/>
            <a:ext cx="1449600" cy="13743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27" name="Google Shape;127;p20"/>
          <p:cNvSpPr txBox="1"/>
          <p:nvPr/>
        </p:nvSpPr>
        <p:spPr>
          <a:xfrm>
            <a:off x="5390150" y="3721675"/>
            <a:ext cx="1449600" cy="56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Proxima Nova"/>
                <a:ea typeface="Proxima Nova"/>
                <a:cs typeface="Proxima Nova"/>
                <a:sym typeface="Proxima Nova"/>
              </a:rPr>
              <a:t>Update air_history</a:t>
            </a:r>
            <a:endParaRPr sz="1800">
              <a:solidFill>
                <a:srgbClr val="FFFFFF"/>
              </a:solidFill>
              <a:latin typeface="Proxima Nova"/>
              <a:ea typeface="Proxima Nova"/>
              <a:cs typeface="Proxima Nova"/>
              <a:sym typeface="Proxima Nova"/>
            </a:endParaRPr>
          </a:p>
        </p:txBody>
      </p:sp>
      <p:sp>
        <p:nvSpPr>
          <p:cNvPr id="128" name="Google Shape;128;p20"/>
          <p:cNvSpPr/>
          <p:nvPr/>
        </p:nvSpPr>
        <p:spPr>
          <a:xfrm>
            <a:off x="2982713" y="3458150"/>
            <a:ext cx="1449600" cy="13743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29" name="Google Shape;129;p20"/>
          <p:cNvSpPr txBox="1"/>
          <p:nvPr/>
        </p:nvSpPr>
        <p:spPr>
          <a:xfrm>
            <a:off x="3052775" y="3721675"/>
            <a:ext cx="1449600" cy="56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Proxima Nova"/>
                <a:ea typeface="Proxima Nova"/>
                <a:cs typeface="Proxima Nova"/>
                <a:sym typeface="Proxima Nova"/>
              </a:rPr>
              <a:t>Update trigger_pulls</a:t>
            </a:r>
            <a:endParaRPr sz="1800">
              <a:solidFill>
                <a:srgbClr val="FFFFFF"/>
              </a:solidFill>
              <a:latin typeface="Proxima Nova"/>
              <a:ea typeface="Proxima Nova"/>
              <a:cs typeface="Proxima Nova"/>
              <a:sym typeface="Proxima Nova"/>
            </a:endParaRPr>
          </a:p>
        </p:txBody>
      </p:sp>
      <p:sp>
        <p:nvSpPr>
          <p:cNvPr id="130" name="Google Shape;130;p20"/>
          <p:cNvSpPr/>
          <p:nvPr/>
        </p:nvSpPr>
        <p:spPr>
          <a:xfrm>
            <a:off x="618775" y="3394850"/>
            <a:ext cx="1546200" cy="14376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31" name="Google Shape;131;p20"/>
          <p:cNvSpPr txBox="1"/>
          <p:nvPr/>
        </p:nvSpPr>
        <p:spPr>
          <a:xfrm>
            <a:off x="741425" y="3625375"/>
            <a:ext cx="1449600" cy="56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Proxima Nova"/>
                <a:ea typeface="Proxima Nova"/>
                <a:cs typeface="Proxima Nova"/>
                <a:sym typeface="Proxima Nova"/>
              </a:rPr>
              <a:t>Disconnect from database</a:t>
            </a:r>
            <a:endParaRPr sz="1800">
              <a:solidFill>
                <a:srgbClr val="FFFFFF"/>
              </a:solidFill>
              <a:latin typeface="Proxima Nova"/>
              <a:ea typeface="Proxima Nova"/>
              <a:cs typeface="Proxima Nova"/>
              <a:sym typeface="Proxima Nova"/>
            </a:endParaRPr>
          </a:p>
        </p:txBody>
      </p:sp>
      <p:sp>
        <p:nvSpPr>
          <p:cNvPr id="132" name="Google Shape;132;p20"/>
          <p:cNvSpPr/>
          <p:nvPr/>
        </p:nvSpPr>
        <p:spPr>
          <a:xfrm>
            <a:off x="2164850" y="1846225"/>
            <a:ext cx="569100" cy="317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33" name="Google Shape;133;p20"/>
          <p:cNvSpPr/>
          <p:nvPr/>
        </p:nvSpPr>
        <p:spPr>
          <a:xfrm>
            <a:off x="4423000" y="1846225"/>
            <a:ext cx="569100" cy="317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34" name="Google Shape;134;p20"/>
          <p:cNvSpPr/>
          <p:nvPr/>
        </p:nvSpPr>
        <p:spPr>
          <a:xfrm>
            <a:off x="6724875" y="1846225"/>
            <a:ext cx="569100" cy="317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35" name="Google Shape;135;p20"/>
          <p:cNvSpPr/>
          <p:nvPr/>
        </p:nvSpPr>
        <p:spPr>
          <a:xfrm rot="5398188">
            <a:off x="7838662" y="2924488"/>
            <a:ext cx="569100" cy="317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36" name="Google Shape;136;p20"/>
          <p:cNvSpPr/>
          <p:nvPr/>
        </p:nvSpPr>
        <p:spPr>
          <a:xfrm rot="10798188">
            <a:off x="6738412" y="4020713"/>
            <a:ext cx="569100" cy="317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37" name="Google Shape;137;p20"/>
          <p:cNvSpPr/>
          <p:nvPr/>
        </p:nvSpPr>
        <p:spPr>
          <a:xfrm rot="10798188">
            <a:off x="4543599" y="4020713"/>
            <a:ext cx="569100" cy="317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38" name="Google Shape;138;p20"/>
          <p:cNvSpPr/>
          <p:nvPr/>
        </p:nvSpPr>
        <p:spPr>
          <a:xfrm rot="10798188">
            <a:off x="2302337" y="4020713"/>
            <a:ext cx="569100" cy="317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1"/>
          <p:cNvSpPr txBox="1"/>
          <p:nvPr>
            <p:ph idx="1" type="subTitle"/>
          </p:nvPr>
        </p:nvSpPr>
        <p:spPr>
          <a:xfrm>
            <a:off x="114875" y="1306700"/>
            <a:ext cx="3123900" cy="3118200"/>
          </a:xfrm>
          <a:prstGeom prst="rect">
            <a:avLst/>
          </a:prstGeom>
        </p:spPr>
        <p:txBody>
          <a:bodyPr anchorCtr="0" anchor="t" bIns="91425" lIns="91425" spcFirstLastPara="1" rIns="91425" wrap="square" tIns="91425">
            <a:normAutofit lnSpcReduction="20000"/>
          </a:bodyPr>
          <a:lstStyle/>
          <a:p>
            <a:pPr indent="-381000" lvl="0" marL="457200" rtl="0" algn="l">
              <a:spcBef>
                <a:spcPts val="0"/>
              </a:spcBef>
              <a:spcAft>
                <a:spcPts val="0"/>
              </a:spcAft>
              <a:buSzPts val="2400"/>
              <a:buChar char="●"/>
            </a:pPr>
            <a:r>
              <a:rPr lang="en"/>
              <a:t>Trigger=event or condition that “triggers” code to automatically run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381000" lvl="0" marL="457200" rtl="0" algn="l">
              <a:spcBef>
                <a:spcPts val="0"/>
              </a:spcBef>
              <a:spcAft>
                <a:spcPts val="0"/>
              </a:spcAft>
              <a:buSzPts val="2400"/>
              <a:buChar char="●"/>
            </a:pPr>
            <a:r>
              <a:rPr lang="en"/>
              <a:t>Eliminates the need for manual execution</a:t>
            </a:r>
            <a:endParaRPr/>
          </a:p>
        </p:txBody>
      </p:sp>
      <p:sp>
        <p:nvSpPr>
          <p:cNvPr id="144" name="Google Shape;144;p21"/>
          <p:cNvSpPr/>
          <p:nvPr/>
        </p:nvSpPr>
        <p:spPr>
          <a:xfrm>
            <a:off x="7800" y="2918650"/>
            <a:ext cx="9128400" cy="4605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pic>
        <p:nvPicPr>
          <p:cNvPr id="145" name="Google Shape;145;p21" title="Screenshot 2026-06-09 at 10.56.30 AM.png"/>
          <p:cNvPicPr preferRelativeResize="0"/>
          <p:nvPr/>
        </p:nvPicPr>
        <p:blipFill rotWithShape="1">
          <a:blip r:embed="rId3">
            <a:alphaModFix/>
          </a:blip>
          <a:srcRect b="0" l="0" r="0" t="0"/>
          <a:stretch/>
        </p:blipFill>
        <p:spPr>
          <a:xfrm>
            <a:off x="3238775" y="1172100"/>
            <a:ext cx="5897424" cy="3966150"/>
          </a:xfrm>
          <a:prstGeom prst="rect">
            <a:avLst/>
          </a:prstGeom>
          <a:noFill/>
          <a:ln>
            <a:noFill/>
          </a:ln>
        </p:spPr>
      </p:pic>
      <p:sp>
        <p:nvSpPr>
          <p:cNvPr id="146" name="Google Shape;146;p21"/>
          <p:cNvSpPr txBox="1"/>
          <p:nvPr>
            <p:ph type="ctrTitle"/>
          </p:nvPr>
        </p:nvSpPr>
        <p:spPr>
          <a:xfrm>
            <a:off x="223975" y="127940"/>
            <a:ext cx="8520600" cy="999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Creating a trigger</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2"/>
          <p:cNvSpPr txBox="1"/>
          <p:nvPr>
            <p:ph type="ctrTitle"/>
          </p:nvPr>
        </p:nvSpPr>
        <p:spPr>
          <a:xfrm>
            <a:off x="311700" y="-240039"/>
            <a:ext cx="8520600" cy="13740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Future goals</a:t>
            </a:r>
            <a:endParaRPr/>
          </a:p>
        </p:txBody>
      </p:sp>
      <p:sp>
        <p:nvSpPr>
          <p:cNvPr id="152" name="Google Shape;152;p22"/>
          <p:cNvSpPr txBox="1"/>
          <p:nvPr>
            <p:ph idx="1" type="subTitle"/>
          </p:nvPr>
        </p:nvSpPr>
        <p:spPr>
          <a:xfrm>
            <a:off x="311700" y="1325402"/>
            <a:ext cx="8520600" cy="2492700"/>
          </a:xfrm>
          <a:prstGeom prst="rect">
            <a:avLst/>
          </a:prstGeom>
        </p:spPr>
        <p:txBody>
          <a:bodyPr anchorCtr="0" anchor="t" bIns="91425" lIns="91425" spcFirstLastPara="1" rIns="91425" wrap="square" tIns="91425">
            <a:normAutofit/>
          </a:bodyPr>
          <a:lstStyle/>
          <a:p>
            <a:pPr indent="-381000" lvl="0" marL="457200" rtl="0" algn="l">
              <a:spcBef>
                <a:spcPts val="0"/>
              </a:spcBef>
              <a:spcAft>
                <a:spcPts val="0"/>
              </a:spcAft>
              <a:buSzPts val="2400"/>
              <a:buChar char="●"/>
            </a:pPr>
            <a:r>
              <a:rPr lang="en"/>
              <a:t>Create databases for sensors from other companies (AirGradient, Clarity)</a:t>
            </a:r>
            <a:endParaRPr/>
          </a:p>
          <a:p>
            <a:pPr indent="0" lvl="0" marL="0" rtl="0" algn="l">
              <a:spcBef>
                <a:spcPts val="0"/>
              </a:spcBef>
              <a:spcAft>
                <a:spcPts val="0"/>
              </a:spcAft>
              <a:buNone/>
            </a:pPr>
            <a:r>
              <a:t/>
            </a:r>
            <a:endParaRPr/>
          </a:p>
          <a:p>
            <a:pPr indent="-381000" lvl="0" marL="457200" rtl="0" algn="l">
              <a:spcBef>
                <a:spcPts val="0"/>
              </a:spcBef>
              <a:spcAft>
                <a:spcPts val="0"/>
              </a:spcAft>
              <a:buSzPts val="2400"/>
              <a:buChar char="●"/>
            </a:pPr>
            <a:r>
              <a:rPr lang="en"/>
              <a:t>Continued sensor installation</a:t>
            </a:r>
            <a:endParaRPr/>
          </a:p>
          <a:p>
            <a:pPr indent="-381000" lvl="0" marL="457200" rtl="0" algn="l">
              <a:spcBef>
                <a:spcPts val="0"/>
              </a:spcBef>
              <a:spcAft>
                <a:spcPts val="0"/>
              </a:spcAft>
              <a:buSzPts val="2400"/>
              <a:buChar char="●"/>
            </a:pPr>
            <a:r>
              <a:t/>
            </a:r>
            <a:endParaRPr/>
          </a:p>
          <a:p>
            <a:pPr indent="-381000" lvl="0" marL="457200" rtl="0" algn="l">
              <a:spcBef>
                <a:spcPts val="0"/>
              </a:spcBef>
              <a:spcAft>
                <a:spcPts val="0"/>
              </a:spcAft>
              <a:buSzPts val="2400"/>
              <a:buChar char="●"/>
            </a:pPr>
            <a:r>
              <a:rPr lang="en"/>
              <a:t>Create a public sensor dashboard </a:t>
            </a:r>
            <a:endParaRPr/>
          </a:p>
        </p:txBody>
      </p:sp>
      <p:sp>
        <p:nvSpPr>
          <p:cNvPr id="153" name="Google Shape;153;p22"/>
          <p:cNvSpPr/>
          <p:nvPr/>
        </p:nvSpPr>
        <p:spPr>
          <a:xfrm>
            <a:off x="7800" y="2852175"/>
            <a:ext cx="9128400" cy="4605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3"/>
          <p:cNvSpPr/>
          <p:nvPr/>
        </p:nvSpPr>
        <p:spPr>
          <a:xfrm>
            <a:off x="0" y="2571750"/>
            <a:ext cx="9128400" cy="4605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59" name="Google Shape;159;p23"/>
          <p:cNvSpPr txBox="1"/>
          <p:nvPr>
            <p:ph type="ctrTitle"/>
          </p:nvPr>
        </p:nvSpPr>
        <p:spPr>
          <a:xfrm>
            <a:off x="311700" y="-240039"/>
            <a:ext cx="8520600" cy="13740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What I learned</a:t>
            </a:r>
            <a:endParaRPr/>
          </a:p>
        </p:txBody>
      </p:sp>
      <p:sp>
        <p:nvSpPr>
          <p:cNvPr id="160" name="Google Shape;160;p23"/>
          <p:cNvSpPr txBox="1"/>
          <p:nvPr>
            <p:ph idx="1" type="subTitle"/>
          </p:nvPr>
        </p:nvSpPr>
        <p:spPr>
          <a:xfrm>
            <a:off x="311700" y="1325402"/>
            <a:ext cx="8520600" cy="2492700"/>
          </a:xfrm>
          <a:prstGeom prst="rect">
            <a:avLst/>
          </a:prstGeom>
        </p:spPr>
        <p:txBody>
          <a:bodyPr anchorCtr="0" anchor="t" bIns="91425" lIns="91425" spcFirstLastPara="1" rIns="91425" wrap="square" tIns="91425">
            <a:normAutofit/>
          </a:bodyPr>
          <a:lstStyle/>
          <a:p>
            <a:pPr indent="-381000" lvl="0" marL="457200" rtl="0" algn="l">
              <a:spcBef>
                <a:spcPts val="0"/>
              </a:spcBef>
              <a:spcAft>
                <a:spcPts val="0"/>
              </a:spcAft>
              <a:buSzPts val="2400"/>
              <a:buChar char="●"/>
            </a:pPr>
            <a:r>
              <a:rPr lang="en"/>
              <a:t>Introduction to SQL programming</a:t>
            </a:r>
            <a:endParaRPr/>
          </a:p>
          <a:p>
            <a:pPr indent="0" lvl="0" marL="0" rtl="0" algn="l">
              <a:spcBef>
                <a:spcPts val="0"/>
              </a:spcBef>
              <a:spcAft>
                <a:spcPts val="0"/>
              </a:spcAft>
              <a:buNone/>
            </a:pPr>
            <a:r>
              <a:t/>
            </a:r>
            <a:endParaRPr/>
          </a:p>
          <a:p>
            <a:pPr indent="-381000" lvl="0" marL="457200" rtl="0" algn="l">
              <a:spcBef>
                <a:spcPts val="0"/>
              </a:spcBef>
              <a:spcAft>
                <a:spcPts val="0"/>
              </a:spcAft>
              <a:buSzPts val="2400"/>
              <a:buChar char="●"/>
            </a:pPr>
            <a:r>
              <a:rPr lang="en"/>
              <a:t>Queries and database operations</a:t>
            </a:r>
            <a:endParaRPr/>
          </a:p>
          <a:p>
            <a:pPr indent="0" lvl="0" marL="0" rtl="0" algn="l">
              <a:spcBef>
                <a:spcPts val="0"/>
              </a:spcBef>
              <a:spcAft>
                <a:spcPts val="0"/>
              </a:spcAft>
              <a:buNone/>
            </a:pPr>
            <a:r>
              <a:t/>
            </a:r>
            <a:endParaRPr/>
          </a:p>
          <a:p>
            <a:pPr indent="-381000" lvl="0" marL="457200" rtl="0" algn="l">
              <a:spcBef>
                <a:spcPts val="0"/>
              </a:spcBef>
              <a:spcAft>
                <a:spcPts val="0"/>
              </a:spcAft>
              <a:buSzPts val="2400"/>
              <a:buChar char="●"/>
            </a:pPr>
            <a:r>
              <a:rPr lang="en"/>
              <a:t>ER diagrams for databases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